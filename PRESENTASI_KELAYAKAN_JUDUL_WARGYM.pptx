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Raleway Thin"/>
      <p:regular r:id="rId10"/>
      <p:bold r:id="rId11"/>
      <p:italic r:id="rId12"/>
      <p:boldItalic r:id="rId13"/>
    </p:embeddedFont>
    <p:embeddedFont>
      <p:font typeface="Barlow Ligh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+/ey7rCejyIST1To5hZb/xAFz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font" Target="fonts/RalewayThin-regular.fntdata"/><Relationship Id="rId11" Type="http://schemas.openxmlformats.org/officeDocument/2006/relationships/font" Target="fonts/RalewayThin-bold.fntdata"/><Relationship Id="rId12" Type="http://schemas.openxmlformats.org/officeDocument/2006/relationships/font" Target="fonts/RalewayThin-italic.fntdata"/><Relationship Id="rId13" Type="http://schemas.openxmlformats.org/officeDocument/2006/relationships/font" Target="fonts/RalewayThin-boldItalic.fntdata"/><Relationship Id="rId14" Type="http://schemas.openxmlformats.org/officeDocument/2006/relationships/font" Target="fonts/BarlowLight-regular.fntdata"/><Relationship Id="rId15" Type="http://schemas.openxmlformats.org/officeDocument/2006/relationships/font" Target="fonts/BarlowLight-bold.fntdata"/><Relationship Id="rId16" Type="http://schemas.openxmlformats.org/officeDocument/2006/relationships/font" Target="fonts/BarlowLight-italic.fntdata"/><Relationship Id="rId17" Type="http://schemas.openxmlformats.org/officeDocument/2006/relationships/font" Target="fonts/BarlowLight-boldItalic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0c4565d067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g30c4565d0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9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17" name="Google Shape;17;p10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"/>
          <p:cNvGrpSpPr/>
          <p:nvPr/>
        </p:nvGrpSpPr>
        <p:grpSpPr>
          <a:xfrm>
            <a:off x="5122427" y="668001"/>
            <a:ext cx="3841143" cy="3893303"/>
            <a:chOff x="5122427" y="668001"/>
            <a:chExt cx="3841143" cy="3893303"/>
          </a:xfrm>
        </p:grpSpPr>
        <p:grpSp>
          <p:nvGrpSpPr>
            <p:cNvPr id="24" name="Google Shape;24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25" name="Google Shape;25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" name="Google Shape;163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64" name="Google Shape;164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2" name="Google Shape;182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" name="Google Shape;213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9" name="Google Shape;249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0" name="Google Shape;250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56" name="Google Shape;256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" name="Google Shape;261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3" name="Google Shape;263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64" name="Google Shape;264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0" name="Google Shape;290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1" name="Google Shape;291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11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" name="Google Shape;293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" name="Google Shape;294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6" name="Google Shape;296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8" name="Google Shape;298;p1"/>
          <p:cNvSpPr txBox="1"/>
          <p:nvPr>
            <p:ph type="ctrTitle"/>
          </p:nvPr>
        </p:nvSpPr>
        <p:spPr>
          <a:xfrm>
            <a:off x="861172" y="1790450"/>
            <a:ext cx="5318738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>
              <a:defRPr sz="2200" b="1"/>
            </a:pPr>
            <a:r>
              <a:t>RANCANG BANGUN PLATFORM LAYANAN GYM TERINTEGRASI</a:t>
            </a:r>
          </a:p>
          <a:p>
            <a:pPr>
              <a:defRPr sz="2200" b="1"/>
            </a:pPr>
            <a:r>
              <a:t>(WEB &amp; MOBILE) DENGAN MODUL ASISTEN LATIHAN MANDIRI</a:t>
            </a:r>
          </a:p>
          <a:p>
            <a:pPr>
              <a:defRPr sz="2200" b="1"/>
            </a:pPr>
            <a:r>
              <a:t>(STUDI KASUS: WARGYM)</a:t>
            </a:r>
          </a:p>
        </p:txBody>
      </p:sp>
      <p:sp>
        <p:nvSpPr>
          <p:cNvPr id="299" name="Google Shape;299;p1"/>
          <p:cNvSpPr txBox="1"/>
          <p:nvPr/>
        </p:nvSpPr>
        <p:spPr>
          <a:xfrm>
            <a:off x="824960" y="2840721"/>
            <a:ext cx="3361278" cy="496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defRPr sz="1400"/>
            </a:pPr>
            <a:r>
              <a:t>Disusun Oleh:</a:t>
            </a:r>
          </a:p>
          <a:p>
            <a:pPr>
              <a:defRPr sz="1400"/>
            </a:pPr>
            <a:r>
              <a:t>[NAMA MAHASISWA] - NIM: [NIM]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Program Studi D-III Manajemen Informatika (PSDKU)</a:t>
            </a:r>
          </a:p>
          <a:p>
            <a:pPr>
              <a:defRPr sz="1400"/>
            </a:pPr>
            <a:r>
              <a:t>Departemen Ilmu Komputer dan Manajemen Informatika</a:t>
            </a:r>
          </a:p>
          <a:p>
            <a:pPr>
              <a:defRPr sz="1400"/>
            </a:pPr>
            <a:r>
              <a:t>2026</a:t>
            </a:r>
          </a:p>
        </p:txBody>
      </p:sp>
      <p:sp>
        <p:nvSpPr>
          <p:cNvPr id="300" name="Google Shape;300;p1"/>
          <p:cNvSpPr/>
          <p:nvPr/>
        </p:nvSpPr>
        <p:spPr>
          <a:xfrm>
            <a:off x="1076325" y="361167"/>
            <a:ext cx="951980" cy="9655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"/>
          <p:cNvSpPr txBox="1"/>
          <p:nvPr>
            <p:ph idx="1" type="body"/>
          </p:nvPr>
        </p:nvSpPr>
        <p:spPr>
          <a:xfrm>
            <a:off x="671016" y="1421546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1300"/>
            </a:pPr>
            <a:r>
              <a:t>1. Sulitnya Mencari Pusat Informasi Operasional Gym</a:t>
            </a:r>
          </a:p>
          <a:p>
            <a:pPr>
              <a:defRPr sz="1300"/>
            </a:pPr>
            <a:r>
              <a:t>   • Medsos (IG/TikTok) lebih ke ruang promosi dan suasana tempat.</a:t>
            </a:r>
          </a:p>
          <a:p>
            <a:pPr>
              <a:defRPr sz="1300"/>
            </a:pPr>
            <a:r>
              <a:t>   • Info tarif resmi, jadwal buka, dan status membership tertimbun postingan.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2. Presensi Manual Berbasis Kartu Fisik</a:t>
            </a:r>
          </a:p>
          <a:p>
            <a:pPr>
              <a:defRPr sz="1300"/>
            </a:pPr>
            <a:r>
              <a:t>   • Kartu fisik mudah hilang, rusak, atau tertinggal di rumah.</a:t>
            </a:r>
          </a:p>
          <a:p>
            <a:pPr>
              <a:defRPr sz="1300"/>
            </a:pPr>
            <a:r>
              <a:t>   • Verifikasi manual menimbulkan antrean panjang di kasir jam sibuk.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3. Ketiadaan Tool Mandiri bagi Pemula dalam 1 Aplikasi</a:t>
            </a:r>
          </a:p>
          <a:p>
            <a:pPr>
              <a:defRPr sz="1300"/>
            </a:pPr>
            <a:r>
              <a:t>   • Pemula bingung bentuk gerakan (form) sesuai otot target tanpa sewa PT.</a:t>
            </a:r>
          </a:p>
          <a:p>
            <a:pPr>
              <a:defRPr sz="1300"/>
            </a:pPr>
            <a:r>
              <a:t>   • Tidak ada alat praktis mencatat beban bertahap (progressive overload).</a:t>
            </a:r>
          </a:p>
          <a:p>
            <a:pPr>
              <a:defRPr sz="1300"/>
            </a:pPr>
            <a:r>
              <a:t>   • Terpaksa berpindah-pindah media (YouTube, Notes, WA) secara tidak efisien.</a:t>
            </a:r>
          </a:p>
        </p:txBody>
      </p:sp>
      <p:sp>
        <p:nvSpPr>
          <p:cNvPr id="306" name="Google Shape;306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2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"/>
          <p:cNvSpPr/>
          <p:nvPr/>
        </p:nvSpPr>
        <p:spPr>
          <a:xfrm>
            <a:off x="671016" y="589114"/>
            <a:ext cx="5685300" cy="5865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 sz="2800">
                <a:solidFill>
                  <a:srgbClr val="FFFFFF"/>
                </a:solidFill>
              </a:rPr>
              <a:t>PERMASALAHAN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"/>
          <p:cNvSpPr txBox="1"/>
          <p:nvPr>
            <p:ph idx="1" type="body"/>
          </p:nvPr>
        </p:nvSpPr>
        <p:spPr>
          <a:xfrm>
            <a:off x="671016" y="1421546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1300"/>
            </a:pPr>
            <a:r>
              <a:t>SOLUSI PLATFORM ALL-IN-ONE (WEB &amp; MOBILE):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1. Pusat Informasi Resmi Terpusat:</a:t>
            </a:r>
          </a:p>
          <a:p>
            <a:pPr>
              <a:defRPr sz="1300"/>
            </a:pPr>
            <a:r>
              <a:t>   • Rujukan pasti tarif paket, jadwal operasional, dan pengumuman resmi.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2. Presensi Digital QR Code Nir-Kartu:</a:t>
            </a:r>
          </a:p>
          <a:p>
            <a:pPr>
              <a:defRPr sz="1300"/>
            </a:pPr>
            <a:r>
              <a:t>   • Check-in mandiri langsung via ponsel tanpa takut kartu tertinggal.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3. Modul Asisten Latihan Mandiri (Core Innovation):</a:t>
            </a:r>
          </a:p>
          <a:p>
            <a:pPr>
              <a:defRPr sz="1300"/>
            </a:pPr>
            <a:r>
              <a:t>   • Panduan visual form gerakan sesuai kelompok otot target.</a:t>
            </a:r>
          </a:p>
          <a:p>
            <a:pPr>
              <a:defRPr sz="1300"/>
            </a:pPr>
            <a:r>
              <a:t>   • Live workout logger: catat set, beban (kg), repetisi, &amp; rest timer otomatis.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4. Web Manajemen &amp; Kasir Terpadu:</a:t>
            </a:r>
          </a:p>
          <a:p>
            <a:pPr>
              <a:defRPr sz="1300"/>
            </a:pPr>
            <a:r>
              <a:t>   • POS kasir, pembayaran online Midtrans, &amp; Smart Stacking Logic.</a:t>
            </a:r>
          </a:p>
        </p:txBody>
      </p:sp>
      <p:sp>
        <p:nvSpPr>
          <p:cNvPr id="314" name="Google Shape;314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3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"/>
          <p:cNvSpPr/>
          <p:nvPr/>
        </p:nvSpPr>
        <p:spPr>
          <a:xfrm>
            <a:off x="671016" y="594285"/>
            <a:ext cx="6608279" cy="58640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lt1"/>
                </a:solidFill>
              </a:rPr>
              <a:t>IDE PENYELESAIAN MASALAH</a:t>
            </a:r>
            <a:endParaRPr b="1"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"/>
          <p:cNvSpPr txBox="1"/>
          <p:nvPr>
            <p:ph idx="1" type="body"/>
          </p:nvPr>
        </p:nvSpPr>
        <p:spPr>
          <a:xfrm>
            <a:off x="671016" y="1421546"/>
            <a:ext cx="7602127" cy="3424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1200"/>
            </a:pPr>
            <a:r>
              <a:t>A. Modul Aplikasi Mobile (Member):</a:t>
            </a:r>
          </a:p>
          <a:p>
            <a:pPr>
              <a:defRPr sz="1200"/>
            </a:pPr>
            <a:r>
              <a:t>   • Akses Pusat Informasi Resmi WARGYM (Paket, Jadwal, Fasilitas)</a:t>
            </a:r>
          </a:p>
          <a:p>
            <a:pPr>
              <a:defRPr sz="1200"/>
            </a:pPr>
            <a:r>
              <a:t>   • Kartu Presensi Digital QR Code (Check-in mandiri nir-kartu)</a:t>
            </a:r>
          </a:p>
          <a:p>
            <a:pPr>
              <a:defRPr sz="1200"/>
            </a:pPr>
            <a:r>
              <a:t>   • Checkout Perpanjangan Online via Midtrans (QRIS/VA) &amp; Stacking Logic</a:t>
            </a:r>
          </a:p>
          <a:p>
            <a:pPr>
              <a:defRPr sz="1200"/>
            </a:pPr>
            <a:r>
              <a:t>   • Katalog Master Gerakan Visual &amp; Target Otot</a:t>
            </a:r>
          </a:p>
          <a:p>
            <a:pPr>
              <a:defRPr sz="1200"/>
            </a:pPr>
            <a:r>
              <a:t>   • Live Workout Logger (Set, Beban kg, Repetisi, Auto Rest Timer)</a:t>
            </a:r>
          </a:p>
          <a:p>
            <a:pPr>
              <a:defRPr sz="1200"/>
            </a:pPr>
            <a:r>
              <a:t>   • Analisis Volume Latihan &amp; Rekam Jejak Progressive Overload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B. Modul Web Operasional (Kasir &amp; Admin):</a:t>
            </a:r>
          </a:p>
          <a:p>
            <a:pPr>
              <a:defRPr sz="1200"/>
            </a:pPr>
            <a:r>
              <a:t>   • Autentikasi Multi-Role (Master Admin, Admin, Kasir)</a:t>
            </a:r>
          </a:p>
          <a:p>
            <a:pPr>
              <a:defRPr sz="1200"/>
            </a:pPr>
            <a:r>
              <a:t>   • Kasir POS (Suplemen, Minuman, Tiket Tamu Daily Pass, Cetak Struk)</a:t>
            </a:r>
          </a:p>
          <a:p>
            <a:pPr>
              <a:defRPr sz="1200"/>
            </a:pPr>
            <a:r>
              <a:t>   • Scanner &amp; Verifikasi Presensi QR Member Real-time</a:t>
            </a:r>
          </a:p>
          <a:p>
            <a:pPr>
              <a:defRPr sz="1200"/>
            </a:pPr>
            <a:r>
              <a:t>   • Laporan Keuangan Harian Kasir &amp; Ekspor Laba-Rugi (Excel/PDF)</a:t>
            </a:r>
          </a:p>
        </p:txBody>
      </p:sp>
      <p:sp>
        <p:nvSpPr>
          <p:cNvPr id="322" name="Google Shape;322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5"/>
          <p:cNvSpPr/>
          <p:nvPr/>
        </p:nvSpPr>
        <p:spPr>
          <a:xfrm>
            <a:off x="8073308" y="190340"/>
            <a:ext cx="804167" cy="80789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671016" y="594285"/>
            <a:ext cx="5685182" cy="58640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ANALISIS KEBUTUHAN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0c4565d067_0_7"/>
          <p:cNvSpPr txBox="1"/>
          <p:nvPr>
            <p:ph idx="1" type="body"/>
          </p:nvPr>
        </p:nvSpPr>
        <p:spPr>
          <a:xfrm>
            <a:off x="671016" y="1421546"/>
            <a:ext cx="7602000" cy="3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>
              <a:defRPr sz="1200"/>
            </a:pPr>
            <a:r>
              <a:t>1. Keamanan (Security):</a:t>
            </a:r>
          </a:p>
          <a:p>
            <a:pPr>
              <a:defRPr sz="1200"/>
            </a:pPr>
            <a:r>
              <a:t>   • Enkripsi kata sandi menggunakan hashing Bcrypt / Argon2id.</a:t>
            </a:r>
          </a:p>
          <a:p>
            <a:pPr>
              <a:defRPr sz="1200"/>
            </a:pPr>
            <a:r>
              <a:t>   • Autentikasi API mobile diamankan dengan Laravel Sanctum Bearer Token.</a:t>
            </a:r>
          </a:p>
          <a:p>
            <a:pPr>
              <a:defRPr sz="1200"/>
            </a:pPr>
            <a:r>
              <a:t>   • Verifikasi kriptografis signature key pada webhook Midtrans.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2. Performa (Performance):</a:t>
            </a:r>
          </a:p>
          <a:p>
            <a:pPr>
              <a:defRPr sz="1200"/>
            </a:pPr>
            <a:r>
              <a:t>   • Waktu respon scanner presensi dan invoice kasir &lt; 2 detik.</a:t>
            </a:r>
          </a:p>
          <a:p>
            <a:pPr>
              <a:defRPr sz="1200"/>
            </a:pPr>
            <a:r>
              <a:t>   • Antarmuka aplikasi mobile Flutter berjalan mulus pada 60 fps.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3. Keandalan (Reliability):</a:t>
            </a:r>
          </a:p>
          <a:p>
            <a:pPr>
              <a:defRPr sz="1200"/>
            </a:pPr>
            <a:r>
              <a:t>   • Mutasi transaksi dan masa aktif menggunakan ACID Database Transactions.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4. Kemudahan Penggunaan (Usability):</a:t>
            </a:r>
          </a:p>
          <a:p>
            <a:pPr>
              <a:defRPr sz="1200"/>
            </a:pPr>
            <a:r>
              <a:t>   • Web kasir Industrial Brutalist Dark kontras tinggi ramah staf kasir.</a:t>
            </a:r>
          </a:p>
          <a:p>
            <a:pPr>
              <a:defRPr sz="1200"/>
            </a:pPr>
            <a:r>
              <a:t>   • Navigasi mobile responsif ramah satu tangan (thumb-friendly).</a:t>
            </a:r>
          </a:p>
        </p:txBody>
      </p:sp>
      <p:sp>
        <p:nvSpPr>
          <p:cNvPr id="330" name="Google Shape;330;g30c4565d067_0_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g30c4565d067_0_7"/>
          <p:cNvSpPr/>
          <p:nvPr/>
        </p:nvSpPr>
        <p:spPr>
          <a:xfrm>
            <a:off x="8073308" y="190340"/>
            <a:ext cx="804300" cy="80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0c4565d067_0_7"/>
          <p:cNvSpPr/>
          <p:nvPr/>
        </p:nvSpPr>
        <p:spPr>
          <a:xfrm>
            <a:off x="671016" y="594285"/>
            <a:ext cx="5685300" cy="5865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ANALISIS KEBUTUHAN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SONY9</dc:creator>
</cp:coreProperties>
</file>